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3" r:id="rId9"/>
    <p:sldId id="264" r:id="rId10"/>
    <p:sldId id="265" r:id="rId11"/>
    <p:sldId id="267" r:id="rId12"/>
    <p:sldId id="266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0179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656B-FEBC-3A30-C611-8FA7E268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BA46D-C623-F4D7-FAD5-EFA7B2B69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050C5-C8C6-8662-49AB-005A14C06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D0C3D-C2B9-4DCB-2A01-CB403D33C6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41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606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Capstone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Aplicado de Programación (TPY1101)  ·  Duoc UC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762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Proyecto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6191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965960" y="1965960"/>
            <a:ext cx="914400" cy="914400"/>
          </a:xfrm>
          <a:prstGeom prst="ellipse">
            <a:avLst/>
          </a:prstGeom>
          <a:solidFill>
            <a:srgbClr val="1E2420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96596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3152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Soto Loyola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32689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100" i="1" dirty="0">
                <a:solidFill>
                  <a:schemeClr val="bg1"/>
                </a:solidFill>
              </a:rPr>
              <a:t>Lead </a:t>
            </a:r>
            <a:r>
              <a:rPr lang="es-CL" sz="1100" i="1" dirty="0" err="1">
                <a:solidFill>
                  <a:schemeClr val="bg1"/>
                </a:solidFill>
              </a:rPr>
              <a:t>Backend</a:t>
            </a:r>
            <a:r>
              <a:rPr lang="es-CL" sz="1100" i="1" dirty="0">
                <a:solidFill>
                  <a:schemeClr val="bg1"/>
                </a:solidFill>
              </a:rPr>
              <a:t> &amp; Data </a:t>
            </a:r>
            <a:r>
              <a:rPr lang="es-CL" sz="1100" i="1" dirty="0" err="1">
                <a:solidFill>
                  <a:schemeClr val="bg1"/>
                </a:solidFill>
              </a:rPr>
              <a:t>Architect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16191A"/>
          </a:solidFill>
          <a:ln/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914400" cy="914400"/>
          </a:xfrm>
          <a:prstGeom prst="ellipse">
            <a:avLst/>
          </a:prstGeom>
          <a:solidFill>
            <a:srgbClr val="1E2420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2636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02920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Cruz Sánchez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29200" y="32689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L" sz="1100" i="1" dirty="0">
                <a:solidFill>
                  <a:schemeClr val="bg1"/>
                </a:solidFill>
              </a:rPr>
              <a:t>Full-Stack &amp; AI </a:t>
            </a:r>
            <a:r>
              <a:rPr lang="es-CL" sz="1100" i="1" dirty="0" err="1">
                <a:solidFill>
                  <a:schemeClr val="bg1"/>
                </a:solidFill>
              </a:rPr>
              <a:t>Specialist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O DOLOR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enfrentan riesgos legales críticos por desorganización documental y uso de medios informales (WhatsApp/Email) para contratos y finiquitos.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trazabilidad normativa.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 y no validada.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de plazos legales.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926080"/>
            <a:ext cx="457200" cy="457200"/>
          </a:xfrm>
          <a:prstGeom prst="rightArrow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5029200" y="160020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5257800" y="1783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257800" y="21488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centralizada que automatiza la gestión documental y ofrece soporte inteligente mediante LOY, un asistente RAG validado con fuentes oficiales de la Dirección del Trabajo.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100% de requerimientos completados y auditados.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8412480" cy="1005840"/>
          </a:xfrm>
          <a:prstGeom prst="roundRect">
            <a:avLst>
              <a:gd name="adj" fmla="val 7273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169947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00841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100" dirty="0">
                <a:solidFill>
                  <a:schemeClr val="bg1"/>
                </a:solidFill>
              </a:rPr>
              <a:t>Desarrollar </a:t>
            </a:r>
            <a:r>
              <a:rPr lang="es-CL" sz="1100" b="1" dirty="0" err="1">
                <a:solidFill>
                  <a:schemeClr val="bg1"/>
                </a:solidFill>
              </a:rPr>
              <a:t>SotLoy</a:t>
            </a:r>
            <a:r>
              <a:rPr lang="es-CL" sz="1100" b="1" dirty="0">
                <a:solidFill>
                  <a:schemeClr val="bg1"/>
                </a:solidFill>
              </a:rPr>
              <a:t> Conecta</a:t>
            </a:r>
            <a:r>
              <a:rPr lang="es-CL" sz="1100" dirty="0">
                <a:solidFill>
                  <a:schemeClr val="bg1"/>
                </a:solidFill>
              </a:rPr>
              <a:t>, una plataforma SaaS </a:t>
            </a:r>
            <a:r>
              <a:rPr lang="es-CL" sz="1100" dirty="0" err="1">
                <a:solidFill>
                  <a:schemeClr val="bg1"/>
                </a:solidFill>
              </a:rPr>
              <a:t>multi-tenant</a:t>
            </a:r>
            <a:r>
              <a:rPr lang="es-CL" sz="1100" dirty="0">
                <a:solidFill>
                  <a:schemeClr val="bg1"/>
                </a:solidFill>
              </a:rPr>
              <a:t> B2B que centraliza y digitaliza la gestión laboral y documental de las Pymes asesoradas por </a:t>
            </a:r>
            <a:r>
              <a:rPr lang="es-CL" sz="1100" dirty="0" err="1">
                <a:solidFill>
                  <a:schemeClr val="bg1"/>
                </a:solidFill>
              </a:rPr>
              <a:t>SotLoy</a:t>
            </a:r>
            <a:r>
              <a:rPr lang="es-CL" sz="1100" dirty="0">
                <a:solidFill>
                  <a:schemeClr val="bg1"/>
                </a:solidFill>
              </a:rPr>
              <a:t> Asesorías, garantizando trazabilidad forense, aislamiento seguro de datos entre empresas y acceso asistido a la normativa laboral chilena mediante un asistente de IA.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20040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94360" y="3200400"/>
            <a:ext cx="62897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400" b="1" dirty="0">
                <a:solidFill>
                  <a:schemeClr val="bg1"/>
                </a:solidFill>
              </a:rPr>
              <a:t>Centralización documental segura y </a:t>
            </a:r>
            <a:r>
              <a:rPr lang="es-CL" sz="1400" b="1" dirty="0" err="1">
                <a:solidFill>
                  <a:schemeClr val="bg1"/>
                </a:solidFill>
              </a:rPr>
              <a:t>multi-tenant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379476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594359" y="3794760"/>
            <a:ext cx="63420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400" b="1" dirty="0">
                <a:solidFill>
                  <a:schemeClr val="bg1"/>
                </a:solidFill>
              </a:rPr>
              <a:t>Trazabilidad forense e inmutable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65760" y="4389120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594360" y="4389120"/>
            <a:ext cx="6015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400" b="1" dirty="0">
                <a:solidFill>
                  <a:schemeClr val="bg1"/>
                </a:solidFill>
              </a:rPr>
              <a:t>Asistente legal inteligente (LOY) con normativa actualizada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 y Limitaciones del Proyecto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60020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" y="2188029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Gestión </a:t>
            </a:r>
            <a:r>
              <a:rPr lang="es-CL" sz="1100" b="1" dirty="0" err="1">
                <a:solidFill>
                  <a:schemeClr val="bg1"/>
                </a:solidFill>
              </a:rPr>
              <a:t>multi-tenant</a:t>
            </a:r>
            <a:r>
              <a:rPr lang="es-CL" sz="1100" b="1" dirty="0">
                <a:solidFill>
                  <a:schemeClr val="bg1"/>
                </a:solidFill>
              </a:rPr>
              <a:t> de Pymes y usuarios</a:t>
            </a:r>
            <a:r>
              <a:rPr lang="es-CL" sz="1100" dirty="0">
                <a:solidFill>
                  <a:schemeClr val="bg1"/>
                </a:solidFill>
              </a:rPr>
              <a:t> con 4 roles (</a:t>
            </a:r>
            <a:r>
              <a:rPr lang="es-CL" sz="1100" dirty="0" err="1">
                <a:solidFill>
                  <a:schemeClr val="bg1"/>
                </a:solidFill>
              </a:rPr>
              <a:t>superadmin</a:t>
            </a:r>
            <a:r>
              <a:rPr lang="es-CL" sz="1100" dirty="0">
                <a:solidFill>
                  <a:schemeClr val="bg1"/>
                </a:solidFill>
              </a:rPr>
              <a:t>, </a:t>
            </a:r>
            <a:r>
              <a:rPr lang="es-CL" sz="1100" dirty="0" err="1">
                <a:solidFill>
                  <a:schemeClr val="bg1"/>
                </a:solidFill>
              </a:rPr>
              <a:t>admin</a:t>
            </a:r>
            <a:r>
              <a:rPr lang="es-CL" sz="1100" dirty="0">
                <a:solidFill>
                  <a:schemeClr val="bg1"/>
                </a:solidFill>
              </a:rPr>
              <a:t>, empresa, trabajador) y aislamiento de datos por RLS.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Centralización documental</a:t>
            </a:r>
            <a:r>
              <a:rPr lang="es-CL" sz="1100" dirty="0">
                <a:solidFill>
                  <a:schemeClr val="bg1"/>
                </a:solidFill>
              </a:rPr>
              <a:t>: carga, validación/sellado SHA-256, cifrado AES-256, descargas con URL firmada (60 min) y organización por carpetas.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Trazabilidad / Audit Log inmutable</a:t>
            </a:r>
            <a:r>
              <a:rPr lang="es-CL" sz="1100" dirty="0">
                <a:solidFill>
                  <a:schemeClr val="bg1"/>
                </a:solidFill>
              </a:rPr>
              <a:t> (</a:t>
            </a:r>
            <a:r>
              <a:rPr lang="es-CL" sz="1100" dirty="0" err="1">
                <a:solidFill>
                  <a:schemeClr val="bg1"/>
                </a:solidFill>
              </a:rPr>
              <a:t>append-only</a:t>
            </a:r>
            <a:r>
              <a:rPr lang="es-CL" sz="1100" dirty="0">
                <a:solidFill>
                  <a:schemeClr val="bg1"/>
                </a:solidFill>
              </a:rPr>
              <a:t>) para fiscalizaciones de la DT.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Asistente LOY (IA / RAG)</a:t>
            </a:r>
            <a:r>
              <a:rPr lang="es-CL" sz="1100" dirty="0">
                <a:solidFill>
                  <a:schemeClr val="bg1"/>
                </a:solidFill>
              </a:rPr>
              <a:t> con citación de fuentes y </a:t>
            </a:r>
            <a:r>
              <a:rPr lang="es-CL" sz="1100" dirty="0" err="1">
                <a:solidFill>
                  <a:schemeClr val="bg1"/>
                </a:solidFill>
              </a:rPr>
              <a:t>disclaimer</a:t>
            </a:r>
            <a:r>
              <a:rPr lang="es-CL" sz="1100" dirty="0">
                <a:solidFill>
                  <a:schemeClr val="bg1"/>
                </a:solidFill>
              </a:rPr>
              <a:t> legal, alimentado por el Web Spider de la DT.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>
                <a:solidFill>
                  <a:schemeClr val="bg1"/>
                </a:solidFill>
              </a:rPr>
              <a:t>Suscripciones y pagos</a:t>
            </a:r>
            <a:r>
              <a:rPr lang="es-CL" sz="1100" dirty="0">
                <a:solidFill>
                  <a:schemeClr val="bg1"/>
                </a:solidFill>
              </a:rPr>
              <a:t> vía Flow (auditoría + planes, </a:t>
            </a:r>
            <a:r>
              <a:rPr lang="es-CL" sz="1100" dirty="0" err="1">
                <a:solidFill>
                  <a:schemeClr val="bg1"/>
                </a:solidFill>
              </a:rPr>
              <a:t>webhooks</a:t>
            </a:r>
            <a:r>
              <a:rPr lang="es-CL" sz="1100" dirty="0">
                <a:solidFill>
                  <a:schemeClr val="bg1"/>
                </a:solidFill>
              </a:rPr>
              <a:t>, IVA).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b="1" dirty="0" err="1">
                <a:solidFill>
                  <a:schemeClr val="bg1"/>
                </a:solidFill>
              </a:rPr>
              <a:t>Frontend</a:t>
            </a:r>
            <a:r>
              <a:rPr lang="es-CL" sz="1100" b="1" dirty="0">
                <a:solidFill>
                  <a:schemeClr val="bg1"/>
                </a:solidFill>
              </a:rPr>
              <a:t> responsive</a:t>
            </a:r>
            <a:r>
              <a:rPr lang="es-CL" sz="1100" dirty="0">
                <a:solidFill>
                  <a:schemeClr val="bg1"/>
                </a:solidFill>
              </a:rPr>
              <a:t> (</a:t>
            </a:r>
            <a:r>
              <a:rPr lang="es-CL" sz="1100" dirty="0" err="1">
                <a:solidFill>
                  <a:schemeClr val="bg1"/>
                </a:solidFill>
              </a:rPr>
              <a:t>React</a:t>
            </a:r>
            <a:r>
              <a:rPr lang="es-CL" sz="1100" dirty="0">
                <a:solidFill>
                  <a:schemeClr val="bg1"/>
                </a:solidFill>
              </a:rPr>
              <a:t> + Vite) con accesibilidad WCAG 2.1 AA.</a:t>
            </a:r>
          </a:p>
        </p:txBody>
      </p:sp>
      <p:sp>
        <p:nvSpPr>
          <p:cNvPr id="12" name="Shape 9"/>
          <p:cNvSpPr/>
          <p:nvPr/>
        </p:nvSpPr>
        <p:spPr>
          <a:xfrm>
            <a:off x="4663440" y="1600200"/>
            <a:ext cx="4023360" cy="3246120"/>
          </a:xfrm>
          <a:prstGeom prst="roundRect">
            <a:avLst>
              <a:gd name="adj" fmla="val 2254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/>
          <p:nvPr/>
        </p:nvSpPr>
        <p:spPr>
          <a:xfrm>
            <a:off x="48920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4069" y="2194560"/>
            <a:ext cx="3566160" cy="1182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solidFill>
                  <a:schemeClr val="bg1"/>
                </a:solidFill>
              </a:rPr>
              <a:t>Representación legal automatizada ante tribunales laborales.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solidFill>
                  <a:schemeClr val="bg1"/>
                </a:solidFill>
              </a:rPr>
              <a:t>Carga masiva histórica de documentos anteriores a 2 años.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solidFill>
                  <a:schemeClr val="bg1"/>
                </a:solidFill>
              </a:rPr>
              <a:t>Módulos contables (balances, impuestos en el SII).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solidFill>
                  <a:schemeClr val="bg1"/>
                </a:solidFill>
              </a:rPr>
              <a:t>Nómina/</a:t>
            </a:r>
            <a:r>
              <a:rPr lang="es-CL" sz="1100" dirty="0" err="1">
                <a:solidFill>
                  <a:schemeClr val="bg1"/>
                </a:solidFill>
              </a:rPr>
              <a:t>payroll</a:t>
            </a:r>
            <a:r>
              <a:rPr lang="es-CL" sz="1100" dirty="0">
                <a:solidFill>
                  <a:schemeClr val="bg1"/>
                </a:solidFill>
              </a:rPr>
              <a:t> automático.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solidFill>
                  <a:schemeClr val="bg1"/>
                </a:solidFill>
              </a:rPr>
              <a:t>Integración con pasarelas distintas a </a:t>
            </a:r>
            <a:r>
              <a:rPr lang="es-CL" sz="1100" b="1" dirty="0">
                <a:solidFill>
                  <a:schemeClr val="bg1"/>
                </a:solidFill>
              </a:rPr>
              <a:t>Flow</a:t>
            </a:r>
            <a:r>
              <a:rPr lang="es-CL" sz="11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Trabajo para el Desarrollo del Proyecto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737360"/>
            <a:ext cx="8412480" cy="3017520"/>
          </a:xfrm>
          <a:prstGeom prst="roundRect">
            <a:avLst>
              <a:gd name="adj" fmla="val 2424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22514" y="1867009"/>
            <a:ext cx="8098972" cy="2758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1050" b="1" dirty="0">
                <a:solidFill>
                  <a:schemeClr val="bg1"/>
                </a:solidFill>
              </a:rPr>
              <a:t>Enfoque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050" b="1" dirty="0">
                <a:solidFill>
                  <a:schemeClr val="bg1"/>
                </a:solidFill>
              </a:rPr>
              <a:t>Scrum adaptado (iterativo-incremental)</a:t>
            </a:r>
            <a:r>
              <a:rPr lang="es-CL" sz="1050" dirty="0">
                <a:solidFill>
                  <a:schemeClr val="bg1"/>
                </a:solidFill>
              </a:rPr>
              <a:t> para un equipo reducido de 2 integrantes, con entregas organizadas por </a:t>
            </a:r>
            <a:r>
              <a:rPr lang="es-CL" sz="1050" dirty="0" err="1">
                <a:solidFill>
                  <a:schemeClr val="bg1"/>
                </a:solidFill>
              </a:rPr>
              <a:t>sprints</a:t>
            </a:r>
            <a:r>
              <a:rPr lang="es-CL" sz="1050" dirty="0">
                <a:solidFill>
                  <a:schemeClr val="bg1"/>
                </a:solidFill>
              </a:rPr>
              <a:t> alineados a los hitos de la asignatura.</a:t>
            </a:r>
          </a:p>
          <a:p>
            <a:endParaRPr lang="es-CL" sz="1050" dirty="0">
              <a:solidFill>
                <a:schemeClr val="bg1"/>
              </a:solidFill>
            </a:endParaRPr>
          </a:p>
          <a:p>
            <a:r>
              <a:rPr lang="es-CL" sz="1050" b="1" dirty="0">
                <a:solidFill>
                  <a:schemeClr val="bg1"/>
                </a:solidFill>
              </a:rPr>
              <a:t>Organización del trabajo</a:t>
            </a:r>
            <a:endParaRPr lang="es-CL" sz="105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s-CL" sz="1050" b="1" dirty="0" err="1">
                <a:solidFill>
                  <a:schemeClr val="bg1"/>
                </a:solidFill>
              </a:rPr>
              <a:t>Sprints</a:t>
            </a:r>
            <a:r>
              <a:rPr lang="es-CL" sz="1050" b="1" dirty="0">
                <a:solidFill>
                  <a:schemeClr val="bg1"/>
                </a:solidFill>
              </a:rPr>
              <a:t> por hito</a:t>
            </a:r>
            <a:r>
              <a:rPr lang="es-CL" sz="1050" dirty="0">
                <a:solidFill>
                  <a:schemeClr val="bg1"/>
                </a:solidFill>
              </a:rPr>
              <a:t>: cada sprint cierra con un incremento funcional desplegado (la app vive en producción/</a:t>
            </a:r>
            <a:r>
              <a:rPr lang="es-CL" sz="1050" dirty="0" err="1">
                <a:solidFill>
                  <a:schemeClr val="bg1"/>
                </a:solidFill>
              </a:rPr>
              <a:t>Netlify</a:t>
            </a:r>
            <a:r>
              <a:rPr lang="es-CL" sz="1050" dirty="0">
                <a:solidFill>
                  <a:schemeClr val="bg1"/>
                </a:solidFill>
              </a:rPr>
              <a:t>), no solo documentación.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050" b="1" dirty="0">
                <a:solidFill>
                  <a:schemeClr val="bg1"/>
                </a:solidFill>
              </a:rPr>
              <a:t>División por especialidad</a:t>
            </a:r>
            <a:r>
              <a:rPr lang="es-CL" sz="1050" dirty="0">
                <a:solidFill>
                  <a:schemeClr val="bg1"/>
                </a:solidFill>
              </a:rPr>
              <a:t> (no por silos): </a:t>
            </a:r>
            <a:r>
              <a:rPr lang="es-CL" sz="1050" i="1" dirty="0">
                <a:solidFill>
                  <a:schemeClr val="bg1"/>
                </a:solidFill>
              </a:rPr>
              <a:t>Cristian</a:t>
            </a:r>
            <a:r>
              <a:rPr lang="es-CL" sz="1050" dirty="0">
                <a:solidFill>
                  <a:schemeClr val="bg1"/>
                </a:solidFill>
              </a:rPr>
              <a:t> lidera </a:t>
            </a:r>
            <a:r>
              <a:rPr lang="es-CL" sz="1050" dirty="0" err="1">
                <a:solidFill>
                  <a:schemeClr val="bg1"/>
                </a:solidFill>
              </a:rPr>
              <a:t>backend</a:t>
            </a:r>
            <a:r>
              <a:rPr lang="es-CL" sz="1050" dirty="0">
                <a:solidFill>
                  <a:schemeClr val="bg1"/>
                </a:solidFill>
              </a:rPr>
              <a:t>, datos, seguridad e infraestructura; </a:t>
            </a:r>
            <a:r>
              <a:rPr lang="es-CL" sz="1050" i="1" dirty="0">
                <a:solidFill>
                  <a:schemeClr val="bg1"/>
                </a:solidFill>
              </a:rPr>
              <a:t>John</a:t>
            </a:r>
            <a:r>
              <a:rPr lang="es-CL" sz="1050" dirty="0">
                <a:solidFill>
                  <a:schemeClr val="bg1"/>
                </a:solidFill>
              </a:rPr>
              <a:t> lidera </a:t>
            </a:r>
            <a:r>
              <a:rPr lang="es-CL" sz="1050" dirty="0" err="1">
                <a:solidFill>
                  <a:schemeClr val="bg1"/>
                </a:solidFill>
              </a:rPr>
              <a:t>frontend</a:t>
            </a:r>
            <a:r>
              <a:rPr lang="es-CL" sz="1050" dirty="0">
                <a:solidFill>
                  <a:schemeClr val="bg1"/>
                </a:solidFill>
              </a:rPr>
              <a:t>, el Motor LOY (RAG) y el Web Spider. QA y documentación se trabajan en conjunto.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050" b="1" dirty="0">
                <a:solidFill>
                  <a:schemeClr val="bg1"/>
                </a:solidFill>
              </a:rPr>
              <a:t>Backlog priorizado por requerimientos</a:t>
            </a:r>
            <a:r>
              <a:rPr lang="es-CL" sz="1050" dirty="0">
                <a:solidFill>
                  <a:schemeClr val="bg1"/>
                </a:solidFill>
              </a:rPr>
              <a:t> (RF/RNF del ERS v1.5) y las 4 épicas, ordenados por valor y riesgo.</a:t>
            </a:r>
          </a:p>
          <a:p>
            <a:endParaRPr lang="es-CL" sz="1050" dirty="0">
              <a:solidFill>
                <a:schemeClr val="bg1"/>
              </a:solidFill>
            </a:endParaRPr>
          </a:p>
          <a:p>
            <a:r>
              <a:rPr lang="es-CL" sz="1050" b="1" dirty="0">
                <a:solidFill>
                  <a:schemeClr val="bg1"/>
                </a:solidFill>
              </a:rPr>
              <a:t>Prácticas de ingeniería</a:t>
            </a:r>
            <a:endParaRPr lang="es-CL" sz="1050" dirty="0">
              <a:solidFill>
                <a:schemeClr val="bg1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s-CL" sz="1050" b="1" dirty="0">
                <a:solidFill>
                  <a:schemeClr val="bg1"/>
                </a:solidFill>
              </a:rPr>
              <a:t>Control de versiones</a:t>
            </a:r>
            <a:r>
              <a:rPr lang="es-CL" sz="1050" dirty="0">
                <a:solidFill>
                  <a:schemeClr val="bg1"/>
                </a:solidFill>
              </a:rPr>
              <a:t>: GitHub con estrategia de </a:t>
            </a:r>
            <a:r>
              <a:rPr lang="es-CL" sz="1050" i="1" dirty="0" err="1">
                <a:solidFill>
                  <a:schemeClr val="bg1"/>
                </a:solidFill>
              </a:rPr>
              <a:t>branching</a:t>
            </a:r>
            <a:r>
              <a:rPr lang="es-CL" sz="1050" dirty="0">
                <a:solidFill>
                  <a:schemeClr val="bg1"/>
                </a:solidFill>
              </a:rPr>
              <a:t> (rama por </a:t>
            </a:r>
            <a:r>
              <a:rPr lang="es-CL" sz="1050" dirty="0" err="1">
                <a:solidFill>
                  <a:schemeClr val="bg1"/>
                </a:solidFill>
              </a:rPr>
              <a:t>feature</a:t>
            </a:r>
            <a:r>
              <a:rPr lang="es-CL" sz="1050" dirty="0">
                <a:solidFill>
                  <a:schemeClr val="bg1"/>
                </a:solidFill>
              </a:rPr>
              <a:t> → integración a </a:t>
            </a:r>
            <a:r>
              <a:rPr lang="es-CL" sz="1050" dirty="0" err="1">
                <a:solidFill>
                  <a:schemeClr val="bg1"/>
                </a:solidFill>
              </a:rPr>
              <a:t>main</a:t>
            </a:r>
            <a:r>
              <a:rPr lang="es-CL" sz="1050" dirty="0">
                <a:solidFill>
                  <a:schemeClr val="bg1"/>
                </a:solidFill>
              </a:rPr>
              <a:t>).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050" b="1" dirty="0">
                <a:solidFill>
                  <a:schemeClr val="bg1"/>
                </a:solidFill>
              </a:rPr>
              <a:t>CI/CD</a:t>
            </a:r>
            <a:r>
              <a:rPr lang="es-CL" sz="1050" dirty="0">
                <a:solidFill>
                  <a:schemeClr val="bg1"/>
                </a:solidFill>
              </a:rPr>
              <a:t>: GitHub </a:t>
            </a:r>
            <a:r>
              <a:rPr lang="es-CL" sz="1050" dirty="0" err="1">
                <a:solidFill>
                  <a:schemeClr val="bg1"/>
                </a:solidFill>
              </a:rPr>
              <a:t>Actions</a:t>
            </a:r>
            <a:r>
              <a:rPr lang="es-CL" sz="1050" dirty="0">
                <a:solidFill>
                  <a:schemeClr val="bg1"/>
                </a:solidFill>
              </a:rPr>
              <a:t> (</a:t>
            </a:r>
            <a:r>
              <a:rPr lang="es-CL" sz="1050" dirty="0" err="1">
                <a:solidFill>
                  <a:schemeClr val="bg1"/>
                </a:solidFill>
              </a:rPr>
              <a:t>ci.yml</a:t>
            </a:r>
            <a:r>
              <a:rPr lang="es-CL" sz="1050" dirty="0">
                <a:solidFill>
                  <a:schemeClr val="bg1"/>
                </a:solidFill>
              </a:rPr>
              <a:t> para </a:t>
            </a:r>
            <a:r>
              <a:rPr lang="es-CL" sz="1050" dirty="0" err="1">
                <a:solidFill>
                  <a:schemeClr val="bg1"/>
                </a:solidFill>
              </a:rPr>
              <a:t>build</a:t>
            </a:r>
            <a:r>
              <a:rPr lang="es-CL" sz="1050" dirty="0">
                <a:solidFill>
                  <a:schemeClr val="bg1"/>
                </a:solidFill>
              </a:rPr>
              <a:t>/</a:t>
            </a:r>
            <a:r>
              <a:rPr lang="es-CL" sz="1050" dirty="0" err="1">
                <a:solidFill>
                  <a:schemeClr val="bg1"/>
                </a:solidFill>
              </a:rPr>
              <a:t>lint</a:t>
            </a:r>
            <a:r>
              <a:rPr lang="es-CL" sz="1050" dirty="0">
                <a:solidFill>
                  <a:schemeClr val="bg1"/>
                </a:solidFill>
              </a:rPr>
              <a:t>/test, </a:t>
            </a:r>
            <a:r>
              <a:rPr lang="es-CL" sz="1050" dirty="0" err="1">
                <a:solidFill>
                  <a:schemeClr val="bg1"/>
                </a:solidFill>
              </a:rPr>
              <a:t>deploy.yml</a:t>
            </a:r>
            <a:r>
              <a:rPr lang="es-CL" sz="1050" dirty="0">
                <a:solidFill>
                  <a:schemeClr val="bg1"/>
                </a:solidFill>
              </a:rPr>
              <a:t> para despliegue).</a:t>
            </a:r>
          </a:p>
          <a:p>
            <a:pPr marL="228600" indent="-228600">
              <a:buFont typeface="+mj-lt"/>
              <a:buAutoNum type="arabicPeriod"/>
            </a:pPr>
            <a:r>
              <a:rPr lang="es-CL" sz="1050" b="1" dirty="0">
                <a:solidFill>
                  <a:schemeClr val="bg1"/>
                </a:solidFill>
              </a:rPr>
              <a:t>Calidad</a:t>
            </a:r>
            <a:r>
              <a:rPr lang="es-CL" sz="1050" dirty="0">
                <a:solidFill>
                  <a:schemeClr val="bg1"/>
                </a:solidFill>
              </a:rPr>
              <a:t>: pruebas unitarias con </a:t>
            </a:r>
            <a:r>
              <a:rPr lang="es-CL" sz="1050" dirty="0" err="1">
                <a:solidFill>
                  <a:schemeClr val="bg1"/>
                </a:solidFill>
              </a:rPr>
              <a:t>Vitest</a:t>
            </a:r>
            <a:r>
              <a:rPr lang="es-CL" sz="1050" dirty="0">
                <a:solidFill>
                  <a:schemeClr val="bg1"/>
                </a:solidFill>
              </a:rPr>
              <a:t> + </a:t>
            </a:r>
            <a:r>
              <a:rPr lang="es-CL" sz="1050" dirty="0" err="1">
                <a:solidFill>
                  <a:schemeClr val="bg1"/>
                </a:solidFill>
              </a:rPr>
              <a:t>checklist</a:t>
            </a:r>
            <a:r>
              <a:rPr lang="es-CL" sz="1050" dirty="0">
                <a:solidFill>
                  <a:schemeClr val="bg1"/>
                </a:solidFill>
              </a:rPr>
              <a:t> de revisión de código (seguridad, </a:t>
            </a:r>
            <a:r>
              <a:rPr lang="es-CL" sz="1050" dirty="0" err="1">
                <a:solidFill>
                  <a:schemeClr val="bg1"/>
                </a:solidFill>
              </a:rPr>
              <a:t>multi-tenancy</a:t>
            </a:r>
            <a:r>
              <a:rPr lang="es-CL" sz="1050" dirty="0">
                <a:solidFill>
                  <a:schemeClr val="bg1"/>
                </a:solidFill>
              </a:rPr>
              <a:t>, RLS) antes de integrar; verificación de la BD contra producción.</a:t>
            </a:r>
          </a:p>
          <a:p>
            <a:endParaRPr lang="es-CL" sz="1050" dirty="0">
              <a:solidFill>
                <a:schemeClr val="bg1"/>
              </a:solidFill>
            </a:endParaRPr>
          </a:p>
          <a:p>
            <a:r>
              <a:rPr lang="es-CL" sz="1050" b="1" dirty="0">
                <a:solidFill>
                  <a:schemeClr val="bg1"/>
                </a:solidFill>
              </a:rPr>
              <a:t>Ceremonias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050" dirty="0">
                <a:solidFill>
                  <a:schemeClr val="bg1"/>
                </a:solidFill>
              </a:rPr>
              <a:t>Planificación al inicio de cada sprint, sincronizaciones cortas frecuentes y una revisión/retro al cierre de cada hito para ajustar el siguiente.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1AC6FD-543A-88D0-AD35-7CD23A8C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6864160D-FDE7-E679-023E-72ADE3B0E090}"/>
              </a:ext>
            </a:extLst>
          </p:cNvPr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EEA15CB-9DBA-79E3-FDE0-6FAA656FCB3B}"/>
              </a:ext>
            </a:extLst>
          </p:cNvPr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62ED390-8433-C33F-C722-DB89225F9785}"/>
              </a:ext>
            </a:extLst>
          </p:cNvPr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Desarrollo del Proyecto</a:t>
            </a:r>
            <a:endParaRPr lang="en-US" sz="3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761F3D4-608E-92BC-C38E-B991665E99D4}"/>
              </a:ext>
            </a:extLst>
          </p:cNvPr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500" i="1" dirty="0" err="1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r>
              <a:rPr lang="en-US" sz="1500" i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500" i="1" dirty="0" err="1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500" i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500" i="1" dirty="0" err="1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</a:t>
            </a:r>
            <a:endParaRPr lang="en-US" sz="15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8CB39CB-C9FB-348D-9A60-0674874A3B18}"/>
              </a:ext>
            </a:extLst>
          </p:cNvPr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381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60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Software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1211580" y="2057400"/>
            <a:ext cx="548640" cy="548640"/>
          </a:xfrm>
          <a:prstGeom prst="ellipse">
            <a:avLst/>
          </a:prstGeom>
          <a:solidFill>
            <a:srgbClr val="12302D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12115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multi-tenant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41448" y="2948940"/>
            <a:ext cx="146304" cy="137160"/>
          </a:xfrm>
          <a:prstGeom prst="rightArrow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2606040" y="182880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/>
          <p:cNvSpPr/>
          <p:nvPr/>
        </p:nvSpPr>
        <p:spPr>
          <a:xfrm>
            <a:off x="3268980" y="2057400"/>
            <a:ext cx="548640" cy="548640"/>
          </a:xfrm>
          <a:prstGeom prst="ellipse">
            <a:avLst/>
          </a:prstGeom>
          <a:solidFill>
            <a:srgbClr val="12302D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32689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974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69748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(Deno)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182880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7"/>
          <p:cNvSpPr/>
          <p:nvPr/>
        </p:nvSpPr>
        <p:spPr>
          <a:xfrm>
            <a:off x="5326380" y="2057400"/>
            <a:ext cx="548640" cy="548640"/>
          </a:xfrm>
          <a:prstGeom prst="ellipse">
            <a:avLst/>
          </a:prstGeom>
          <a:solidFill>
            <a:srgbClr val="12302D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8"/>
          <p:cNvSpPr/>
          <p:nvPr/>
        </p:nvSpPr>
        <p:spPr>
          <a:xfrm>
            <a:off x="53263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548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5488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720840" y="1828800"/>
            <a:ext cx="1874520" cy="2377440"/>
          </a:xfrm>
          <a:prstGeom prst="roundRect">
            <a:avLst>
              <a:gd name="adj" fmla="val 390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Shape 23"/>
          <p:cNvSpPr/>
          <p:nvPr/>
        </p:nvSpPr>
        <p:spPr>
          <a:xfrm>
            <a:off x="7383780" y="2057400"/>
            <a:ext cx="548640" cy="548640"/>
          </a:xfrm>
          <a:prstGeom prst="ellipse">
            <a:avLst/>
          </a:prstGeom>
          <a:solidFill>
            <a:srgbClr val="12302D"/>
          </a:solidFill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4"/>
          <p:cNvSpPr/>
          <p:nvPr/>
        </p:nvSpPr>
        <p:spPr>
          <a:xfrm>
            <a:off x="73837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812280" y="27432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12280" y="31089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LOY (RAG)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oficiales DT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*Presentar esquema detallado de componentes y flujo de datos durante la exposición</a:t>
            </a:r>
            <a:endParaRPr lang="en-US" sz="10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33E2ECB-6EA0-29C2-2DA2-0A6792CC52E0}"/>
              </a:ext>
            </a:extLst>
          </p:cNvPr>
          <p:cNvSpPr/>
          <p:nvPr/>
        </p:nvSpPr>
        <p:spPr>
          <a:xfrm>
            <a:off x="4496235" y="2948940"/>
            <a:ext cx="146304" cy="137160"/>
          </a:xfrm>
          <a:prstGeom prst="rightArrow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D16D5288-694D-11CA-1300-34E32AD6B5DD}"/>
              </a:ext>
            </a:extLst>
          </p:cNvPr>
          <p:cNvSpPr/>
          <p:nvPr/>
        </p:nvSpPr>
        <p:spPr>
          <a:xfrm>
            <a:off x="6560167" y="2948940"/>
            <a:ext cx="146304" cy="137160"/>
          </a:xfrm>
          <a:prstGeom prst="rightArrow">
            <a:avLst/>
          </a:prstGeom>
          <a:solidFill>
            <a:srgbClr val="00B4A6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645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59436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con aislamiento por RLS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Pyme accede únicamente a sus propios datos; políticas Row Level Security en PostgreSQL.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6459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489204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vectorial (pgvector)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92040" y="2148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normativos de la DT indexados como embeddings para consulta semántica del motor LOY.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32461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5943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inmutable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3749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append-only de cualquier acción CRUD relevante en el sistema.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3246120"/>
            <a:ext cx="4023360" cy="1417320"/>
          </a:xfrm>
          <a:prstGeom prst="roundRect">
            <a:avLst>
              <a:gd name="adj" fmla="val 5161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4"/>
          <p:cNvSpPr/>
          <p:nvPr/>
        </p:nvSpPr>
        <p:spPr>
          <a:xfrm>
            <a:off x="489204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cifrados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892040" y="37490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Argon2id; tránsito protegido con TLS 1.2+.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84632" y="192824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484632" y="192824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569464" y="192824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2569464" y="192824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54296" y="192824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4654296" y="192824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39128" y="192824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739128" y="192824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84632" y="328041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3"/>
          <p:cNvSpPr/>
          <p:nvPr/>
        </p:nvSpPr>
        <p:spPr>
          <a:xfrm>
            <a:off x="484632" y="328041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569464" y="328041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5"/>
          <p:cNvSpPr/>
          <p:nvPr/>
        </p:nvSpPr>
        <p:spPr>
          <a:xfrm>
            <a:off x="2569464" y="328041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Edge Functions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54296" y="328041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Text 17"/>
          <p:cNvSpPr/>
          <p:nvPr/>
        </p:nvSpPr>
        <p:spPr>
          <a:xfrm>
            <a:off x="4654296" y="328041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739128" y="3280411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9"/>
          <p:cNvSpPr/>
          <p:nvPr/>
        </p:nvSpPr>
        <p:spPr>
          <a:xfrm>
            <a:off x="6739128" y="3280411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(</a:t>
            </a:r>
            <a:r>
              <a:rPr lang="en-US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Obtenidos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8412480" cy="20193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JWT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emitido, sesión activa ≤ 1h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Multi-tenant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denegado — 0 filas retornadas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Subida documentos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403 — rol no autorizado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LOY (RAG)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con fuente DT referenciada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activada en &lt; 30s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inmutable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append-only generado en 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8F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DT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indexados en pgvector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6FCF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Resultado del Proyecto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*Exposición del sistema en vivo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0" y="3337560"/>
            <a:ext cx="2743200" cy="0"/>
          </a:xfrm>
          <a:prstGeom prst="line">
            <a:avLst/>
          </a:prstGeom>
          <a:noFill/>
          <a:ln w="381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65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530352"/>
            <a:ext cx="8412480" cy="0"/>
          </a:xfrm>
          <a:prstGeom prst="line">
            <a:avLst/>
          </a:prstGeom>
          <a:noFill/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365760" y="7132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Presentados Durante el Desarrollo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65760" y="155448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25C5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548640" y="169164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83080" y="160934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desactivado en `enterprises` y `loy_knowledge_documents`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783080" y="188366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RLS habilitado en producción; políticas faltantes recreadas.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33172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548640" y="246888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25C54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4" name="Text 11"/>
          <p:cNvSpPr/>
          <p:nvPr/>
        </p:nvSpPr>
        <p:spPr>
          <a:xfrm>
            <a:off x="548640" y="246888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783080" y="238658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en Edge Functions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783080" y="266090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Chequeo de rol corregido en funciones con service role.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310896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6"/>
          <p:cNvSpPr/>
          <p:nvPr/>
        </p:nvSpPr>
        <p:spPr>
          <a:xfrm>
            <a:off x="548640" y="32461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83080" y="316382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'Allow all' en 4 tablas sensibles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783080" y="343814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Eliminadas; pagos y suscripciones ya no legibles sin autenticación.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65760" y="3886200"/>
            <a:ext cx="8412480" cy="658368"/>
          </a:xfrm>
          <a:prstGeom prst="roundRect">
            <a:avLst>
              <a:gd name="adj" fmla="val 8333"/>
            </a:avLst>
          </a:prstGeom>
          <a:solidFill>
            <a:srgbClr val="1619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20"/>
          <p:cNvSpPr/>
          <p:nvPr/>
        </p:nvSpPr>
        <p:spPr>
          <a:xfrm>
            <a:off x="548640" y="4023360"/>
            <a:ext cx="1051560" cy="384048"/>
          </a:xfrm>
          <a:prstGeom prst="roundRect">
            <a:avLst>
              <a:gd name="adj" fmla="val 14286"/>
            </a:avLst>
          </a:prstGeom>
          <a:solidFill>
            <a:srgbClr val="F2A93B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24" name="Text 21"/>
          <p:cNvSpPr/>
          <p:nvPr/>
        </p:nvSpPr>
        <p:spPr>
          <a:xfrm>
            <a:off x="548640" y="40233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PELIGRO</a:t>
            </a:r>
          </a:p>
        </p:txBody>
      </p:sp>
      <p:sp>
        <p:nvSpPr>
          <p:cNvPr id="25" name="Text 22"/>
          <p:cNvSpPr/>
          <p:nvPr/>
        </p:nvSpPr>
        <p:spPr>
          <a:xfrm>
            <a:off x="1783080" y="394106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funciones con search_path mutable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783080" y="4215384"/>
            <a:ext cx="6812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search_path fijado a 'public' en todas las funciones PostgreSQL.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21031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la Comisión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657600" y="2880360"/>
            <a:ext cx="1828800" cy="0"/>
          </a:xfrm>
          <a:prstGeom prst="line">
            <a:avLst/>
          </a:prstGeom>
          <a:noFill/>
          <a:ln w="38100">
            <a:solidFill>
              <a:srgbClr val="C8F16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  ·  Cristian Soto Loyola · John Cruz Sanchez  ·  TPY1101  ·  Duoc UC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982</Words>
  <Application>Microsoft Office PowerPoint</Application>
  <PresentationFormat>On-screen Show (16:9)</PresentationFormat>
  <Paragraphs>170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SotLoy Conecta - Presentación Final Capstone</dc:title>
  <dc:subject>PptxGenJS Presentation</dc:subject>
  <dc:creator>Cristian Soto Loyola, John Cruz Sanchez</dc:creator>
  <cp:lastModifiedBy>Crinose Soto</cp:lastModifiedBy>
  <cp:revision>2</cp:revision>
  <dcterms:created xsi:type="dcterms:W3CDTF">2026-06-30T07:43:57Z</dcterms:created>
  <dcterms:modified xsi:type="dcterms:W3CDTF">2026-06-30T08:56:06Z</dcterms:modified>
</cp:coreProperties>
</file>